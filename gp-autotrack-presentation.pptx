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A3E635">
              <a:alpha val="12000"/>
            </a:srgbClr>
          </a:solidFill>
          <a:ln w="12700">
            <a:solidFill>
              <a:srgbClr val="A3E6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60A5F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C0F"/>
                </a:solidFill>
              </a:rPr>
              <a:t>MB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530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92A4"/>
                </a:solidFill>
              </a:rPr>
              <a:t>MOTSOENENG BILL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786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Attorneys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3E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 AutoTrack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Billable Time Capture for Ghost Practice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097280" cy="457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</a:rPr>
              <a:t>Software Engineer Assessment  ·  Motsoeneng Bill  ·  May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920240" cy="3657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Automated Capture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4023360"/>
            <a:ext cx="1920240" cy="3657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GP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4023360"/>
            <a:ext cx="1920240" cy="3657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POPIA Compliant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4023360"/>
            <a:ext cx="1920240" cy="3657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PHP + JS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A complete solution from research to working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8686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How manual time reconstruction costs MB revenue every 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5448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600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SA legal tech landscape &amp; why no existing tool solves this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64008" cy="868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GP AutoTrack — how it works, features &amp; survey insights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60604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606040"/>
            <a:ext cx="64008" cy="8686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Architecture, integrations, POPIA compliance &amp; scalability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57600"/>
            <a:ext cx="64008" cy="8686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Demo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Live walkthrough of the working web application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657600"/>
            <a:ext cx="411480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65760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Compliance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Privacy, ethics, adoption challenges &amp; mitigations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Attorneys reconstruct their day manually — and revenue leaks through the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527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Email sent at 9am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7922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</a:rPr>
              <a:t>Forgotten by 5pm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840480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585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276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20-min client 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42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</a:rPr>
              <a:t>Never logged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3840480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083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026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2 hours drafting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</a:rPr>
              <a:t>Partially recorded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3840480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581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776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</a:rPr>
              <a:t>Team meeting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041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</a:rPr>
              <a:t>Logged as 30min, was 60min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463040"/>
            <a:ext cx="3749040" cy="96012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36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R33,925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937760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Monthly GP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194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System sits idle while time leaks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3749040" cy="96012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10–70%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937760" y="30906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Billable time lost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2918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Industry estimate for manual logging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3749040" cy="96012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730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20–30min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93776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Daily reconstruction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389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Per attorney, every single day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Ghost Practice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The system MB uses today — what it does and where it falls short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02336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402336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&amp; Task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Attorneys manually log every activity against a client matter — what was done, how long, for whom.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02336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08760"/>
            <a:ext cx="402336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&amp; Invoicing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Multiplies time × attorney rate to produce professional invoices ready to send to clients.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402336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402336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Accounting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Management dashboard for productivity, outstanding payments, and POPIA-compliant trust accounting.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02336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402336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365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Native connection to Outlook and Microsoft 365 — the bridge our solution uses.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⚠  The gap: GP only records what attorneys tell it. It cannot watch what they actually do during the day.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South African legal tech landscape — what exists, what is missing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280160"/>
                <a:gridCol w="73152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SA-Built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Auto-Capture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GP Integration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POPIA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C0F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LawPracticeZA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Replaces GP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CaseFox ZA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Replaces GP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Legal Interact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Replaces GP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Ghost Practice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⚠ Prompts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Native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Current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Memtime / PointOne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3E635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✗ 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⚠ Unclear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No GP link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GP AutoTrack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C0F"/>
                          </a:solidFill>
                        </a:rPr>
                        <a:t>THE 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E635"/>
                </a:solidFill>
              </a:rPr>
              <a:t>★  GP AutoTrack is the only solution that combines all five requirements for the South African legal market.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Proposed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GP AutoTrack — a passive capture layer that sits on top of Ghost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20240" cy="2103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192024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Attorney works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normally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Emails, meetings,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docs, calls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2487168"/>
            <a:ext cx="155448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508760"/>
            <a:ext cx="1920240" cy="2103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508760"/>
            <a:ext cx="192024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AutoTrack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captures silently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Via Microsoft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365 Graph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24912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90288" y="2487168"/>
            <a:ext cx="155448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08760"/>
            <a:ext cx="1920240" cy="2103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508760"/>
            <a:ext cx="1920240" cy="73152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Attorney reviews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draft entries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2–3 min 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93408" y="2487168"/>
            <a:ext cx="155448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508760"/>
            <a:ext cx="1920240" cy="2103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508760"/>
            <a:ext cx="192024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5800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Approved entries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synced to GP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GP invoice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generated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31152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4251960"/>
            <a:ext cx="1600200" cy="5943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519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Passive Microsoft 365 monitoring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67712" y="4251960"/>
            <a:ext cx="1600200" cy="5943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67712" y="42519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Smart client/matter matching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86784" y="4251960"/>
            <a:ext cx="1600200" cy="5943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86784" y="42519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One-click GP sync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05856" y="4251960"/>
            <a:ext cx="1600200" cy="5943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42519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Daily billing summary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24928" y="4251960"/>
            <a:ext cx="1600200" cy="5943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4928" y="425196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POPIA-compliant SA hosting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Insights Driving the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Every design decision is grounded in what MB's own users told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3E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Already use GP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No replacement needed — enhance what they know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47.4%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2900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Use GP daily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Even heavy users lose time to manual reconstruction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09360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Rate GP as "neutral"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AutoTrack dashboard must be simpler than GP itself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08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28.9%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Find it "easy"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Zero-training design: review, approve, done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301752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108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3E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44.7%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429000" y="3675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GP integrates "very well"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Build on this — strengthen the Outlook bridge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269748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108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34.2%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309360" y="3675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Only "somewhat" integrated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Biggest gap to close with Microsoft Graph API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3: Technical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Three-layer architecture — watcher, brain,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27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Watcher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Microsoft Graph API connects to Outlook, Teams, Calendar &amp; Word. Silently detects all attorney activity and passes metadata to the processing layer.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130552"/>
            <a:ext cx="4663440" cy="155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3055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Microsoft Graph API  ·  OAuth 2.0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12064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8686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32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Brain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PHP 8+ backend processes raw activity, matches to client/matter via email address lookup, calculates durations, and manages approval workflow.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3136392"/>
            <a:ext cx="4663440" cy="155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36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</a:rPr>
              <a:t>PHP 8+  ·  MySQL  ·  REST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12064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74720"/>
            <a:ext cx="73152" cy="8686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38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—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Clean HTML/CSS/JS frontend where attorneys review draft entries in 2–3 minutes. Triggers GP sync on approval. No training required.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4142232"/>
            <a:ext cx="4663440" cy="155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4223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</a:rPr>
              <a:t>HTML5  ·  CSS3  ·  JavaScript  ·  Bootstrap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463040"/>
            <a:ext cx="2834640" cy="2697480"/>
          </a:xfrm>
          <a:prstGeom prst="rect">
            <a:avLst/>
          </a:prstGeom>
          <a:solidFill>
            <a:srgbClr val="181C23"/>
          </a:solidFill>
          <a:ln w="12700">
            <a:solidFill>
              <a:srgbClr val="A3E635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572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POPIA 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✓  Metadata only — no email content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258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✓  SA-hosted servers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✓  AES-256 encryption at rest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2898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✓  Attorney-controlled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✓  7-year retention policy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✓  Explicit consent on login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8321040" cy="36576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GP Sync:  Approved entries pushed via Office365 bridge or CSV import — no migration, no disruption to existing GP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4: Prototype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A working web application built with PHP, HTML, CSS &amp;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6974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Email/password + Microsoft 365 OAuth sign-in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269748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18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9751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Today's stats, activity feed &amp; timeline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463040"/>
            <a:ext cx="269748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18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Entries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9751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Approve, edit or dismiss captured activities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80360"/>
            <a:ext cx="269748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Summary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3924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Monthly totals by matter, type &amp; week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288036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2880360"/>
            <a:ext cx="269748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 Sync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Push approved entries into Ghost Practice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880360"/>
            <a:ext cx="2697480" cy="1234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880360"/>
            <a:ext cx="26974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33924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Microsoft 365 &amp; GP connection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8321040" cy="411480"/>
          </a:xfrm>
          <a:prstGeom prst="rect">
            <a:avLst/>
          </a:prstGeom>
          <a:solidFill>
            <a:srgbClr val="A3E635">
              <a:alpha val="12000"/>
            </a:srgbClr>
          </a:solidFill>
          <a:ln w="12700">
            <a:solidFill>
              <a:srgbClr val="A3E63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</a:rPr>
              <a:t>★  Live demo: Activity data is simulated to represent real Microsoft 365 capture. In production, this feed is populated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5: Risk &amp; Compliance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Every risk is identified, understood and mitigated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868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Incorrect Matter Matching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Every entry is a draft — attorney approves before GP sync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536192"/>
            <a:ext cx="594360" cy="22860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536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</a:rPr>
              <a:t>Medium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Microsoft API Downtime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10912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Local queue stores activities; syncs on reconnection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536192"/>
            <a:ext cx="594360" cy="2286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36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Low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68880"/>
            <a:ext cx="64008" cy="868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Overbilling from Idle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28163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Idle detection pauses timer; attorney review is final check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2542032"/>
            <a:ext cx="594360" cy="22860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542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</a:rPr>
              <a:t>Medium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46888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46888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Data Breach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28163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AES-256 encryption, SA hosting, ISO 27001 data centre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542032"/>
            <a:ext cx="594360" cy="2286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542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Low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474720"/>
            <a:ext cx="64008" cy="8686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Staff Privacy Concerns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38221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Metadata only, no content, pause mode available, transparent policy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0" y="3547872"/>
            <a:ext cx="594360" cy="228600"/>
          </a:xfrm>
          <a:prstGeom prst="rect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547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</a:rPr>
              <a:t>Medium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474720"/>
            <a:ext cx="4069080" cy="868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474720"/>
            <a:ext cx="64008" cy="868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</a:rPr>
              <a:t>GP Sync Errors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38221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Validation against GP matter list before every push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3547872"/>
            <a:ext cx="594360" cy="2286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547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Low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4526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</a:rPr>
              <a:t>Ethics note: Attorneys own their own data. Management sees billing totals only — no individual email metadata. Full transparency briefing before rollout.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Earning trust gradually — not forcing change overnight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33832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69748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2423160" cy="18288"/>
          </a:xfrm>
          <a:prstGeom prst="rect">
            <a:avLst/>
          </a:prstGeom>
          <a:solidFill>
            <a:srgbClr val="252A35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2–3 willing early adopters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Full transparency briefing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Manual review of every entry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Gather feedback daily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463040"/>
            <a:ext cx="2697480" cy="33832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463040"/>
            <a:ext cx="2697480" cy="73152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 3–4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542032"/>
            <a:ext cx="2423160" cy="18288"/>
          </a:xfrm>
          <a:prstGeom prst="rect">
            <a:avLst/>
          </a:prstGeom>
          <a:solidFill>
            <a:srgbClr val="252A35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Roll out to full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Refine matter-matching accuracy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3547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Reduce review time from 10→3 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Trust in automation builds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2697480" cy="3383280"/>
          </a:xfrm>
          <a:prstGeom prst="rect">
            <a:avLst/>
          </a:prstGeom>
          <a:solidFill>
            <a:srgbClr val="111318"/>
          </a:solidFill>
          <a:ln w="12700">
            <a:solidFill>
              <a:srgbClr val="252A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269748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 5+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2542032"/>
            <a:ext cx="2423160" cy="18288"/>
          </a:xfrm>
          <a:prstGeom prst="rect">
            <a:avLst/>
          </a:prstGeom>
          <a:solidFill>
            <a:srgbClr val="252A35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Auto-approve high-confidence entries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Management reporting live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547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Measure billable uplift vs baseline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4005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→  Evaluate GP cost savings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8321040" cy="320040"/>
          </a:xfrm>
          <a:prstGeom prst="rect">
            <a:avLst/>
          </a:prstGeom>
          <a:solidFill>
            <a:srgbClr val="181C23"/>
          </a:solidFill>
          <a:ln w="12700">
            <a:solidFill>
              <a:srgbClr val="252A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Challenge addressed: 63.2% of users rate GP as neutral — AutoTrack dashboard requires zero GP knowledge and zero additional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A3E635">
              <a:alpha val="10000"/>
            </a:srgbClr>
          </a:solidFill>
          <a:ln w="12700">
            <a:solidFill>
              <a:srgbClr val="A3E635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60A5FA">
              <a:alpha val="8000"/>
            </a:srgbClr>
          </a:solidFill>
          <a:ln w="12700">
            <a:solidFill>
              <a:srgbClr val="60A5F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Real.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is Ready.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</a:rPr>
              <a:t>🔍  No SA tool combines auto-capture + GP integration + POPIA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⚙  GP AutoTrack sits on top of Ghost Practice — zero migration, zero disruption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124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📊  Grounded in MB's own survey data — built for how attorneys actually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513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🛡  Privacy-first design: metadata only, SA-hosted, attorney-controlled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097280" cy="457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Submission: 7 May 2026  ·  Prototype ready for live demo  ·  www.mb.co.za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 AutoTrack — Software Engineer Assessment</dc:title>
  <dc:subject>PptxGenJS Presentation</dc:subject>
  <dc:creator>MB Assessment</dc:creator>
  <cp:lastModifiedBy>MB Assessment</cp:lastModifiedBy>
  <cp:revision>1</cp:revision>
  <dcterms:created xsi:type="dcterms:W3CDTF">2026-05-11T16:28:32Z</dcterms:created>
  <dcterms:modified xsi:type="dcterms:W3CDTF">2026-05-11T16:28:32Z</dcterms:modified>
</cp:coreProperties>
</file>